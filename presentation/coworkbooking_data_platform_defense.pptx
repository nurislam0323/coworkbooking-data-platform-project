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245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308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68" y="1554278"/>
            <a:ext cx="6309360" cy="25515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40740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CoworkBooking Data Platform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097280" y="49834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Платформа данных для системы бронирования рабочих мест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069080" y="5504688"/>
            <a:ext cx="4023360" cy="0"/>
          </a:xfrm>
          <a:prstGeom prst="line">
            <a:avLst/>
          </a:prstGeom>
          <a:noFill/>
          <a:ln w="25400">
            <a:solidFill>
              <a:srgbClr val="2EA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74243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Учебный проект • защита • ФИО студента: </a:t>
            </a:r>
            <a:r>
              <a:rPr lang="ru-RU" sz="1150" dirty="0" smtClean="0">
                <a:solidFill>
                  <a:srgbClr val="94A3B8"/>
                </a:solidFill>
              </a:rPr>
              <a:t>Закиров Нурислам Дамирович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C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0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CoworkBooking Data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393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Связь с предыдущим проектом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 информационной системы бронирования к платформе данных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6446520" y="1417320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92824" y="1527048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Исходная область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92824" y="1856232"/>
            <a:ext cx="47823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CoworkBooking — веб-система, где клиент выбирает рабочее место, проверяет доступность и создаёт бронирование.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446520" y="263347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92824" y="274320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CoworkingSpace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92824" y="3072384"/>
            <a:ext cx="203911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пространство коворкинга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189720" y="263347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36024" y="274320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Workplace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336024" y="3072384"/>
            <a:ext cx="203911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рабочее место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46520" y="404164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92824" y="4151376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Client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92824" y="4480560"/>
            <a:ext cx="203911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клиент системы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189720" y="404164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36024" y="4151376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Booking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336024" y="4480560"/>
            <a:ext cx="203911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факт бронирования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46520" y="5650992"/>
            <a:ext cx="510235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D3B7E"/>
                </a:solidFill>
              </a:rPr>
              <a:t>Новая работа строит вокруг этих сущностей полноценный контур сбора, проверки, хранения и аналитики данных.</a:t>
            </a:r>
            <a:endParaRPr lang="en-US" sz="1320" dirty="0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7" y="2092813"/>
            <a:ext cx="4996543" cy="31238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C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0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CoworkBooking Data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393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Задача проекта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нужно решить поверх операционной системы CoworkBooking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3B7E"/>
                </a:solidFill>
              </a:rPr>
              <a:t>Проблема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1764792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87452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Операционные данные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2104" y="2203704"/>
            <a:ext cx="30449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бронирования, клиенты, рабочие места, статусы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999232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10896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Нужна аналитика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" y="3438144"/>
            <a:ext cx="30449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выручка, загрузка, сегменты, real-time метрики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233672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434340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Нужны гарантии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" y="4672584"/>
            <a:ext cx="30449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качество данных, наблюдаемость, повторяемый запуск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852928"/>
            <a:ext cx="1143000" cy="1051560"/>
          </a:xfrm>
          <a:prstGeom prst="chevron">
            <a:avLst/>
          </a:prstGeom>
          <a:solidFill>
            <a:srgbClr val="2EA7FF"/>
          </a:solidFill>
          <a:ln w="12700">
            <a:solidFill>
              <a:srgbClr val="2EA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2984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3B7E"/>
                </a:solidFill>
              </a:rPr>
              <a:t>Решение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0" y="1792224"/>
            <a:ext cx="4389120" cy="310896"/>
          </a:xfrm>
          <a:prstGeom prst="roundRect">
            <a:avLst>
              <a:gd name="adj" fmla="val 35294"/>
            </a:avLst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865376"/>
            <a:ext cx="42428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локальная Data Platform на Docker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2505456"/>
            <a:ext cx="4389120" cy="310896"/>
          </a:xfrm>
          <a:prstGeom prst="roundRect">
            <a:avLst>
              <a:gd name="adj" fmla="val 35294"/>
            </a:avLst>
          </a:prstGeom>
          <a:solidFill>
            <a:srgbClr val="DFF2FF"/>
          </a:solidFill>
          <a:ln w="12700">
            <a:solidFill>
              <a:srgbClr val="DFF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578608"/>
            <a:ext cx="42428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batch + streaming обработка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3218688"/>
            <a:ext cx="4389120" cy="310896"/>
          </a:xfrm>
          <a:prstGeom prst="roundRect">
            <a:avLst>
              <a:gd name="adj" fmla="val 35294"/>
            </a:avLst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291840"/>
            <a:ext cx="42428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Lakehouse: Bronze / Silver / Gold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3931920"/>
            <a:ext cx="4389120" cy="310896"/>
          </a:xfrm>
          <a:prstGeom prst="roundRect">
            <a:avLst>
              <a:gd name="adj" fmla="val 35294"/>
            </a:avLst>
          </a:prstGeom>
          <a:solidFill>
            <a:srgbClr val="DFF2FF"/>
          </a:solidFill>
          <a:ln w="12700">
            <a:solidFill>
              <a:srgbClr val="DFF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4005072"/>
            <a:ext cx="42428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Feature Store и semantic layer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4645152"/>
            <a:ext cx="4389120" cy="310896"/>
          </a:xfrm>
          <a:prstGeom prst="roundRect">
            <a:avLst>
              <a:gd name="adj" fmla="val 35294"/>
            </a:avLst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4718304"/>
            <a:ext cx="42428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dashboard, мониторинг и CI/CD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C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0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CoworkBooking Data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393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Домены Data Mesh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 разделены по бизнес-смыслу и опубликованы как Data Products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3200400" cy="3154680"/>
          </a:xfrm>
          <a:prstGeom prst="roundRect">
            <a:avLst>
              <a:gd name="adj" fmla="val 2319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709928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3B7E"/>
                </a:solidFill>
              </a:rPr>
              <a:t>booking_operations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2104" y="2039112"/>
            <a:ext cx="2907792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Бронирования, выручка, статусы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Data product: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Booking Revenue Product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600200"/>
            <a:ext cx="3200400" cy="3154680"/>
          </a:xfrm>
          <a:prstGeom prst="roundRect">
            <a:avLst>
              <a:gd name="adj" fmla="val 2319"/>
            </a:avLst>
          </a:prstGeom>
          <a:solidFill>
            <a:srgbClr val="DFF2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709928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3B7E"/>
                </a:solidFill>
              </a:rPr>
              <a:t>space_operations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6864" y="2039112"/>
            <a:ext cx="2907792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Помещения, рабочие места, загрузка зон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Data product: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Space Occupancy Product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75320" y="1600200"/>
            <a:ext cx="3200400" cy="3154680"/>
          </a:xfrm>
          <a:prstGeom prst="roundRect">
            <a:avLst>
              <a:gd name="adj" fmla="val 2319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709928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3B7E"/>
                </a:solidFill>
              </a:rPr>
              <a:t>customer_engagement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21624" y="2039112"/>
            <a:ext cx="2907792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Клиенты, активность, сегменты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Data product: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Client Features Product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86200" y="3154680"/>
            <a:ext cx="45720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80960" y="3154680"/>
            <a:ext cx="45720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71600" y="5257800"/>
            <a:ext cx="9464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17904" y="5367528"/>
            <a:ext cx="9171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Data Product контракт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17904" y="5696712"/>
            <a:ext cx="91714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schema + owner + SLA + quality metrics + access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C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0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CoworkBooking Data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393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Общая архитектура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и streaming контуры сходятся в аналитические витрины и dashboard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19019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5270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Источники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512064" y="1810512"/>
            <a:ext cx="17007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CSV exports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API simulation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Event simulator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304288" y="1920240"/>
            <a:ext cx="310896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79192" y="1417320"/>
            <a:ext cx="19019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5270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Оркестрация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2779776" y="1810512"/>
            <a:ext cx="17007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Airflow / Prefect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DAG + retries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572000" y="1920240"/>
            <a:ext cx="310896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46904" y="1417320"/>
            <a:ext cx="19019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15270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Качество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5047488" y="1810512"/>
            <a:ext cx="17007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Great Expectations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DQ reports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839712" y="1920240"/>
            <a:ext cx="310896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14616" y="1417320"/>
            <a:ext cx="1901952" cy="1005840"/>
          </a:xfrm>
          <a:prstGeom prst="roundRect">
            <a:avLst>
              <a:gd name="adj" fmla="val 6364"/>
            </a:avLst>
          </a:prstGeom>
          <a:solidFill>
            <a:srgbClr val="DFF2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24344" y="15270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Data Lake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7315200" y="1810512"/>
            <a:ext cx="17007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MinIO / S3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Bronze • Silver • Gold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9107424" y="1920240"/>
            <a:ext cx="310896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482328" y="1417320"/>
            <a:ext cx="19019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92056" y="15270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Lakehouse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9582912" y="1810512"/>
            <a:ext cx="17007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Spark + Iceberg/Delta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Parquet tables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1828800" y="306324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38528" y="31729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Feature Store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1929384" y="3456432"/>
            <a:ext cx="17647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Feast features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4160520" y="306324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0248" y="31729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ClickHouse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4261104" y="3456432"/>
            <a:ext cx="17647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analytics tables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6492240" y="306324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31729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Cube.js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6592824" y="3456432"/>
            <a:ext cx="17647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semantic layer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823960" y="306324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33688" y="31729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UI + Grafana</a:t>
            </a:r>
            <a:endParaRPr lang="en-US" sz="1240" dirty="0"/>
          </a:p>
        </p:txBody>
      </p:sp>
      <p:sp>
        <p:nvSpPr>
          <p:cNvPr id="38" name="Text 36"/>
          <p:cNvSpPr/>
          <p:nvPr/>
        </p:nvSpPr>
        <p:spPr>
          <a:xfrm>
            <a:off x="8924544" y="3456432"/>
            <a:ext cx="17647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embedded analytics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9857232" y="2423160"/>
            <a:ext cx="0" cy="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794760" y="3547872"/>
            <a:ext cx="36576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126480" y="3547872"/>
            <a:ext cx="36576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458200" y="3547872"/>
            <a:ext cx="36576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60120" y="4754880"/>
            <a:ext cx="102412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5074920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DFF2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4128" y="5184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Kafka</a:t>
            </a:r>
            <a:endParaRPr lang="en-US" sz="1240" dirty="0"/>
          </a:p>
        </p:txBody>
      </p:sp>
      <p:sp>
        <p:nvSpPr>
          <p:cNvPr id="46" name="Text 44"/>
          <p:cNvSpPr/>
          <p:nvPr/>
        </p:nvSpPr>
        <p:spPr>
          <a:xfrm>
            <a:off x="1014984" y="5468112"/>
            <a:ext cx="1764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workplace events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3337560" y="5074920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47288" y="5184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Flink / ksqlDB</a:t>
            </a:r>
            <a:endParaRPr lang="en-US" sz="1240" dirty="0"/>
          </a:p>
        </p:txBody>
      </p:sp>
      <p:sp>
        <p:nvSpPr>
          <p:cNvPr id="49" name="Text 47"/>
          <p:cNvSpPr/>
          <p:nvPr/>
        </p:nvSpPr>
        <p:spPr>
          <a:xfrm>
            <a:off x="3438144" y="5468112"/>
            <a:ext cx="1764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window aggregation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5760720" y="5074920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70448" y="5184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ClickHouse</a:t>
            </a:r>
            <a:endParaRPr lang="en-US" sz="1240" dirty="0"/>
          </a:p>
        </p:txBody>
      </p:sp>
      <p:sp>
        <p:nvSpPr>
          <p:cNvPr id="52" name="Text 50"/>
          <p:cNvSpPr/>
          <p:nvPr/>
        </p:nvSpPr>
        <p:spPr>
          <a:xfrm>
            <a:off x="5861304" y="5468112"/>
            <a:ext cx="1764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5-minute metrics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8183880" y="5074920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93608" y="5184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Grafana</a:t>
            </a:r>
            <a:endParaRPr lang="en-US" sz="1240" dirty="0"/>
          </a:p>
        </p:txBody>
      </p:sp>
      <p:sp>
        <p:nvSpPr>
          <p:cNvPr id="55" name="Text 53"/>
          <p:cNvSpPr/>
          <p:nvPr/>
        </p:nvSpPr>
        <p:spPr>
          <a:xfrm>
            <a:off x="8284464" y="5468112"/>
            <a:ext cx="1764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real-time dashboard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2880360" y="5449824"/>
            <a:ext cx="45720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303520" y="5449824"/>
            <a:ext cx="45720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726680" y="5449824"/>
            <a:ext cx="45720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C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0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CoworkBooking Data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393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 as Code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Terraform сохраняет cloud-ready blueprint, даже если защита проходит локально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527048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Object Storage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2104" y="1856232"/>
            <a:ext cx="277063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S3-compatible bucket для Data Lake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527048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Kafka cluster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72584" y="1856232"/>
            <a:ext cx="277063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управляемый брокер событий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13064" y="1527048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VM / server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13064" y="1856232"/>
            <a:ext cx="277063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узел для сервисов и Docker Compose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49040" y="1938528"/>
            <a:ext cx="77724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0" y="1938528"/>
            <a:ext cx="77724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43000" y="3246120"/>
            <a:ext cx="9921240" cy="960120"/>
          </a:xfrm>
          <a:prstGeom prst="roundRect">
            <a:avLst>
              <a:gd name="adj" fmla="val 7619"/>
            </a:avLst>
          </a:prstGeom>
          <a:solidFill>
            <a:srgbClr val="DFF2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9304" y="3355848"/>
            <a:ext cx="9628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Локальный режим для защиты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9304" y="3685032"/>
            <a:ext cx="96286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Docker Compose поднимает MinIO, Kafka, Zookeeper и ClickHouse без облачной оплаты и сложной настройки.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800600"/>
            <a:ext cx="9921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7E"/>
                </a:solidFill>
              </a:rPr>
              <a:t>Смысл IaC: инфраструктура описана кодом, поэтому проект можно перенести из локального стенда в облако без переписывания архитектуры.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C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0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CoworkBooking Data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393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ETL / ELT и качество данных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не просто переносит данные, а проверяет их и оставляет след выполнения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1508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68249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CSV / API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603504" y="1965960"/>
            <a:ext cx="1307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simulation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011680" y="2002536"/>
            <a:ext cx="256032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23160" y="1572768"/>
            <a:ext cx="1508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68249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extract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2523744" y="1965960"/>
            <a:ext cx="1307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load raw data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3931920" y="2002536"/>
            <a:ext cx="256032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43400" y="1572768"/>
            <a:ext cx="1508760" cy="868680"/>
          </a:xfrm>
          <a:prstGeom prst="roundRect">
            <a:avLst>
              <a:gd name="adj" fmla="val 7368"/>
            </a:avLst>
          </a:prstGeom>
          <a:solidFill>
            <a:srgbClr val="DFF2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168249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validate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4443984" y="1965960"/>
            <a:ext cx="1307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Great Expectations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852160" y="2002536"/>
            <a:ext cx="256032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63640" y="1572768"/>
            <a:ext cx="1508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168249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write Parquet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6364224" y="1965960"/>
            <a:ext cx="1307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Bronze / Silver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7772400" y="2002536"/>
            <a:ext cx="256032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83880" y="1572768"/>
            <a:ext cx="1508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168249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lineage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8284464" y="1965960"/>
            <a:ext cx="1307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metadata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9692640" y="2002536"/>
            <a:ext cx="256032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1572768"/>
            <a:ext cx="1508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13848" y="168249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alert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10204704" y="1965960"/>
            <a:ext cx="1307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on failure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685800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3B7E"/>
                </a:solidFill>
              </a:rPr>
              <a:t>Проверки качества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3703320"/>
            <a:ext cx="420624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3776472"/>
            <a:ext cx="4059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нет дубликатов ключей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5800" y="4178808"/>
            <a:ext cx="420624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4251960"/>
            <a:ext cx="4059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обязательные поля заполнены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5800" y="4654296"/>
            <a:ext cx="420624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4727448"/>
            <a:ext cx="4059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значения в допустимых диапазонах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5800" y="5129784"/>
            <a:ext cx="420624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" y="5202936"/>
            <a:ext cx="4059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даты и длительность корректные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0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3B7E"/>
                </a:solidFill>
              </a:rPr>
              <a:t>Observability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400800" y="3703320"/>
            <a:ext cx="420624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73952" y="3776472"/>
            <a:ext cx="4059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retry при сбоях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0" y="4178808"/>
            <a:ext cx="420624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4251960"/>
            <a:ext cx="4059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логирование pipeline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0" y="4654296"/>
            <a:ext cx="420624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3952" y="4727448"/>
            <a:ext cx="4059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Telegram / Slack alert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0" y="5129784"/>
            <a:ext cx="420624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5202936"/>
            <a:ext cx="4059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lineage metadata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C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0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CoworkBooking Data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393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Lakehouse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 проходят слои от сырого состояния до витрин для аналитики и ML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914400" y="1572768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8249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D3B7E"/>
                </a:solidFill>
              </a:rPr>
              <a:t>Bronze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0704" y="2011680"/>
            <a:ext cx="267919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сырые данные без потерь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CSV/API/events as-is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86200" y="2542032"/>
            <a:ext cx="64008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1572768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68249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D3B7E"/>
                </a:solidFill>
              </a:rPr>
              <a:t>Silver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9744" y="2011680"/>
            <a:ext cx="267919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очищенные и нормализованные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дедупликация, типы, даты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2542032"/>
            <a:ext cx="64008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12480" y="1572768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DFF2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58784" y="168249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D3B7E"/>
                </a:solidFill>
              </a:rPr>
              <a:t>Gold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58784" y="2011680"/>
            <a:ext cx="267919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агрегаты и витрины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revenue, occupancy, features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10287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4453128"/>
            <a:ext cx="9994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Gold-таблицы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0704" y="4782312"/>
            <a:ext cx="99943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booking_revenue • space_occupancy_5m • client_features • utilization_metrics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623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</a:rPr>
              <a:t>Технологии: Spark / PySpark SQL, Iceberg или Delta Lake, Parquet, S3 / MinIO.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C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0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CoworkBooking Data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393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Store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Feast превращает Gold-данные в единые признаки для аналитики и ML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709928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Назначение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23544" y="2039112"/>
            <a:ext cx="3456432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хранение признаков клиентов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единое описание entity и FeatureView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одинаковые признаки для обучения и inference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повторяемость ML-экспериментов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5074920" y="2743200"/>
            <a:ext cx="960120" cy="868680"/>
          </a:xfrm>
          <a:prstGeom prst="chevron">
            <a:avLst/>
          </a:prstGeom>
          <a:solidFill>
            <a:srgbClr val="2EA7FF"/>
          </a:solidFill>
          <a:ln w="12700">
            <a:solidFill>
              <a:srgbClr val="2EA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46634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2824" y="1527048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Примеры признаков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92824" y="1856232"/>
            <a:ext cx="4370832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total_bookings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avg_booking_duration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cancellation_rate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preferred_room_type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average_revenue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recent_activity_score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5778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B7E"/>
                </a:solidFill>
              </a:rPr>
              <a:t>Feature Store отделяет бизнес-логику признаков от конкретного dashboard или модели.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C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0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CoworkBooking Data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393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Streaming pipeline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Поток событий показывает состояние коворкинга почти в реальном времени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7099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Event simulator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603504" y="1993392"/>
            <a:ext cx="162763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check_in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check_out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booking_created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331720" y="2167128"/>
            <a:ext cx="50292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160020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DFF2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7099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Kafka topic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2935224" y="1993392"/>
            <a:ext cx="162763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coworkbooking.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workplace_events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663440" y="2167128"/>
            <a:ext cx="50292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60020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17099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Flink / ksqlDB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5266944" y="1993392"/>
            <a:ext cx="162763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5-minute window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aggregation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995160" y="2167128"/>
            <a:ext cx="50292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0" y="160020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07808" y="17099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ClickHouse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7598664" y="1993392"/>
            <a:ext cx="162763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space_occupancy_5m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9326880" y="2167128"/>
            <a:ext cx="50292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160020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9528" y="17099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Grafana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9930384" y="1993392"/>
            <a:ext cx="162763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real-time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dashboard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777240" y="37033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3813048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События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3544" y="4142232"/>
            <a:ext cx="487375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клиент вошел в зону • клиент забронировал место • отмена бронирования • место занято / свободно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37033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3813048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Метрики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9944" y="4142232"/>
            <a:ext cx="487375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людей в корпусе за 5 минут • загрузка рабочих мест • активность по зонам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5504688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D3B7E"/>
                </a:solidFill>
              </a:rPr>
              <a:t>Потоковый контур дополняет batch-аналитику и показывает операционные изменения сразу, а не после дневной выгрузки.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C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0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CoworkBooking Data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393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Layer и Embedded Analytics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Cube.js скрывает SQL и даёт интерфейсу понятные бизнес-метрики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383280" cy="3794760"/>
          </a:xfrm>
          <a:prstGeom prst="roundRect">
            <a:avLst>
              <a:gd name="adj" fmla="val 2162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52704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Метрики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1856232"/>
            <a:ext cx="3090672" cy="3264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BookingCount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Revenue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AvgBookingDuration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RoomUtilization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ActiveClients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383280" cy="37947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52704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Измерения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1856232"/>
            <a:ext cx="3090672" cy="3264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дата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филиал / коворкинг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зона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тип рабочего места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сегмент клиента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383280" cy="3794760"/>
          </a:xfrm>
          <a:prstGeom prst="roundRect">
            <a:avLst>
              <a:gd name="adj" fmla="val 2162"/>
            </a:avLst>
          </a:prstGeom>
          <a:solidFill>
            <a:srgbClr val="DFF2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024" y="152704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3B7E"/>
                </a:solidFill>
              </a:rPr>
              <a:t>Интерфейс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93024" y="1856232"/>
            <a:ext cx="3090672" cy="3264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React / Streamlit UI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Drill-down: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филиал → зона → место → бронирование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6235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B7E"/>
                </a:solidFill>
              </a:rPr>
              <a:t>Пользователь видит не таблицы и SQL, а готовую аналитику для принятия решений.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C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0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CoworkBooking Data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393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3B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CI/CD, запуск и защита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Финальный сценарий показывает полный жизненный цикл платформы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691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52704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pytest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786384" y="1810512"/>
            <a:ext cx="14904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unit tests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377440" y="1828800"/>
            <a:ext cx="54864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1417320"/>
            <a:ext cx="1691640" cy="841248"/>
          </a:xfrm>
          <a:prstGeom prst="roundRect">
            <a:avLst>
              <a:gd name="adj" fmla="val 7609"/>
            </a:avLst>
          </a:prstGeom>
          <a:solidFill>
            <a:srgbClr val="DFF2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152704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Great Expectations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3026664" y="1810512"/>
            <a:ext cx="14904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data quality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617720" y="1828800"/>
            <a:ext cx="54864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417320"/>
            <a:ext cx="1691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152704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Docker build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5266944" y="1810512"/>
            <a:ext cx="14904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images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858000" y="1828800"/>
            <a:ext cx="54864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1417320"/>
            <a:ext cx="1691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6368" y="152704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deploy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7507224" y="1810512"/>
            <a:ext cx="14904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test stand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9098280" y="1828800"/>
            <a:ext cx="548640" cy="0"/>
          </a:xfrm>
          <a:prstGeom prst="line">
            <a:avLst/>
          </a:prstGeom>
          <a:noFill/>
          <a:ln w="1905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46920" y="1417320"/>
            <a:ext cx="1691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6648" y="152704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D3B7E"/>
                </a:solidFill>
              </a:rPr>
              <a:t>monitoring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9747504" y="1810512"/>
            <a:ext cx="14904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alerts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7772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3B7E"/>
                </a:solidFill>
              </a:rPr>
              <a:t>План демонстрации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77240" y="3383280"/>
            <a:ext cx="480060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456432"/>
            <a:ext cx="4654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1. структура проекта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" y="3858768"/>
            <a:ext cx="480060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3931920"/>
            <a:ext cx="4654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2. Docker Compose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" y="4334256"/>
            <a:ext cx="480060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4407408"/>
            <a:ext cx="4654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3. локальный demo script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7240" y="4809744"/>
            <a:ext cx="480060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4882896"/>
            <a:ext cx="4654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4. ingestion и DQ reports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3383280"/>
            <a:ext cx="480060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3456432"/>
            <a:ext cx="4654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5. Kafka events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3858768"/>
            <a:ext cx="480060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3931920"/>
            <a:ext cx="4654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6. ClickHouse / Grafana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4334256"/>
            <a:ext cx="480060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4407408"/>
            <a:ext cx="4654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7. Cube.js / React UI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4809744"/>
            <a:ext cx="4800600" cy="310896"/>
          </a:xfrm>
          <a:prstGeom prst="roundRect">
            <a:avLst>
              <a:gd name="adj" fmla="val 3529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4882896"/>
            <a:ext cx="4654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7E"/>
                </a:solidFill>
              </a:rPr>
              <a:t>8. документация и ADR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7705" y="5412921"/>
            <a:ext cx="10607040" cy="740664"/>
          </a:xfrm>
          <a:prstGeom prst="roundRect">
            <a:avLst>
              <a:gd name="adj" fmla="val 12308"/>
            </a:avLst>
          </a:prstGeom>
          <a:solidFill>
            <a:srgbClr val="0D3B7E"/>
          </a:solidFill>
          <a:ln w="12700">
            <a:solidFill>
              <a:srgbClr val="0D3B7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412921"/>
            <a:ext cx="10323576" cy="41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Вывод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85800" y="5842198"/>
            <a:ext cx="10561320" cy="1561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Проект демонстрирует полный data lifecycle: </a:t>
            </a:r>
            <a:r>
              <a:rPr lang="en-US" sz="1100" dirty="0" err="1" smtClean="0">
                <a:solidFill>
                  <a:srgbClr val="FFFFFF"/>
                </a:solidFill>
              </a:rPr>
              <a:t>источники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→ качество → Lakehouse → Feature Store → real-time аналитика → semantic layer → dashboard → CI/CD.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821</Words>
  <Application>Microsoft Office PowerPoint</Application>
  <PresentationFormat>Широкоэкранный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RUDN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CoworkBooking Data Platform</dc:title>
  <dc:subject>CoworkBooking Data Platform</dc:subject>
  <dc:creator>e_vla</dc:creator>
  <cp:lastModifiedBy>Закиров Нурислам Дамирович</cp:lastModifiedBy>
  <cp:revision>2</cp:revision>
  <dcterms:created xsi:type="dcterms:W3CDTF">2026-05-21T19:07:25Z</dcterms:created>
  <dcterms:modified xsi:type="dcterms:W3CDTF">2026-05-21T21:26:49Z</dcterms:modified>
</cp:coreProperties>
</file>